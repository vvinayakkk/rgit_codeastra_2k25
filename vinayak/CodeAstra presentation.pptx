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Bebas Neue Bold" charset="1" panose="020B0606020202050201"/>
      <p:regular r:id="rId11"/>
    </p:embeddedFont>
    <p:embeddedFont>
      <p:font typeface="Glacial Indifference" charset="1" panose="00000000000000000000"/>
      <p:regular r:id="rId12"/>
    </p:embeddedFont>
    <p:embeddedFont>
      <p:font typeface="Canva Sans" charset="1" panose="020B0503030501040103"/>
      <p:regular r:id="rId13"/>
    </p:embeddedFont>
    <p:embeddedFont>
      <p:font typeface="Lemon Tuesday" charset="1" panose="02000506040000020004"/>
      <p:regular r:id="rId14"/>
    </p:embeddedFont>
    <p:embeddedFont>
      <p:font typeface="Lora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07864" y="6708518"/>
            <a:ext cx="7156964" cy="7156964"/>
          </a:xfrm>
          <a:custGeom>
            <a:avLst/>
            <a:gdLst/>
            <a:ahLst/>
            <a:cxnLst/>
            <a:rect r="r" b="b" t="t" l="l"/>
            <a:pathLst>
              <a:path h="7156964" w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02610" y="1202110"/>
            <a:ext cx="7882781" cy="7882781"/>
          </a:xfrm>
          <a:custGeom>
            <a:avLst/>
            <a:gdLst/>
            <a:ahLst/>
            <a:cxnLst/>
            <a:rect r="r" b="b" t="t" l="l"/>
            <a:pathLst>
              <a:path h="7882781" w="7882781">
                <a:moveTo>
                  <a:pt x="0" y="0"/>
                </a:moveTo>
                <a:lnTo>
                  <a:pt x="7882780" y="0"/>
                </a:lnTo>
                <a:lnTo>
                  <a:pt x="7882780" y="7882780"/>
                </a:lnTo>
                <a:lnTo>
                  <a:pt x="0" y="7882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64556" y="528758"/>
            <a:ext cx="9824323" cy="999883"/>
          </a:xfrm>
          <a:custGeom>
            <a:avLst/>
            <a:gdLst/>
            <a:ahLst/>
            <a:cxnLst/>
            <a:rect r="r" b="b" t="t" l="l"/>
            <a:pathLst>
              <a:path h="999883" w="9824323">
                <a:moveTo>
                  <a:pt x="0" y="0"/>
                </a:moveTo>
                <a:lnTo>
                  <a:pt x="9824323" y="0"/>
                </a:lnTo>
                <a:lnTo>
                  <a:pt x="9824323" y="999884"/>
                </a:lnTo>
                <a:lnTo>
                  <a:pt x="0" y="9998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939021" y="86990"/>
            <a:ext cx="1348979" cy="1633403"/>
          </a:xfrm>
          <a:custGeom>
            <a:avLst/>
            <a:gdLst/>
            <a:ahLst/>
            <a:cxnLst/>
            <a:rect r="r" b="b" t="t" l="l"/>
            <a:pathLst>
              <a:path h="1633403" w="1348979">
                <a:moveTo>
                  <a:pt x="0" y="0"/>
                </a:moveTo>
                <a:lnTo>
                  <a:pt x="1348979" y="0"/>
                </a:lnTo>
                <a:lnTo>
                  <a:pt x="1348979" y="1633402"/>
                </a:lnTo>
                <a:lnTo>
                  <a:pt x="0" y="16334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1073" y="86990"/>
            <a:ext cx="1757683" cy="1633403"/>
          </a:xfrm>
          <a:custGeom>
            <a:avLst/>
            <a:gdLst/>
            <a:ahLst/>
            <a:cxnLst/>
            <a:rect r="r" b="b" t="t" l="l"/>
            <a:pathLst>
              <a:path h="1633403" w="1757683">
                <a:moveTo>
                  <a:pt x="0" y="0"/>
                </a:moveTo>
                <a:lnTo>
                  <a:pt x="1757683" y="0"/>
                </a:lnTo>
                <a:lnTo>
                  <a:pt x="1757683" y="1633402"/>
                </a:lnTo>
                <a:lnTo>
                  <a:pt x="0" y="16334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506018" y="1870129"/>
            <a:ext cx="7941399" cy="1598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07"/>
              </a:lnSpc>
              <a:spcBef>
                <a:spcPct val="0"/>
              </a:spcBef>
            </a:pPr>
            <a:r>
              <a:rPr lang="en-US" b="true" sz="9148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JUDING ROUND 1 INDEX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4238" y="3549778"/>
            <a:ext cx="9237822" cy="6221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5"/>
              </a:lnSpc>
            </a:pPr>
            <a:r>
              <a:rPr lang="en-US" sz="443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1.  Team introduction with project title </a:t>
            </a:r>
          </a:p>
          <a:p>
            <a:pPr algn="l">
              <a:lnSpc>
                <a:spcPts val="6205"/>
              </a:lnSpc>
            </a:pPr>
            <a:r>
              <a:rPr lang="en-US" sz="443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2. Introduction of topic</a:t>
            </a:r>
          </a:p>
          <a:p>
            <a:pPr algn="l">
              <a:lnSpc>
                <a:spcPts val="6205"/>
              </a:lnSpc>
            </a:pPr>
            <a:r>
              <a:rPr lang="en-US" sz="443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3. Problem statement</a:t>
            </a:r>
          </a:p>
          <a:p>
            <a:pPr algn="l">
              <a:lnSpc>
                <a:spcPts val="6205"/>
              </a:lnSpc>
            </a:pPr>
            <a:r>
              <a:rPr lang="en-US" sz="443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4. Proposed solution</a:t>
            </a:r>
          </a:p>
          <a:p>
            <a:pPr algn="l">
              <a:lnSpc>
                <a:spcPts val="6205"/>
              </a:lnSpc>
            </a:pPr>
            <a:r>
              <a:rPr lang="en-US" sz="443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5. Unique value proposition</a:t>
            </a:r>
          </a:p>
          <a:p>
            <a:pPr algn="l">
              <a:lnSpc>
                <a:spcPts val="6205"/>
              </a:lnSpc>
            </a:pPr>
            <a:r>
              <a:rPr lang="en-US" sz="443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6. Tech stack</a:t>
            </a:r>
          </a:p>
          <a:p>
            <a:pPr algn="l">
              <a:lnSpc>
                <a:spcPts val="6205"/>
              </a:lnSpc>
            </a:pPr>
            <a:r>
              <a:rPr lang="en-US" sz="443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7. Future scope</a:t>
            </a:r>
          </a:p>
          <a:p>
            <a:pPr algn="l">
              <a:lnSpc>
                <a:spcPts val="6205"/>
              </a:lnSpc>
            </a:pPr>
            <a:r>
              <a:rPr lang="en-US" sz="443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9. Q&amp;A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02220" y="9615700"/>
            <a:ext cx="6624238" cy="30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3"/>
              </a:lnSpc>
            </a:pPr>
            <a:r>
              <a:rPr lang="en-US" sz="181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*p.s - You will use this template throughout the hack-a-thon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680818" y="-2674791"/>
            <a:ext cx="7156964" cy="7156964"/>
          </a:xfrm>
          <a:custGeom>
            <a:avLst/>
            <a:gdLst/>
            <a:ahLst/>
            <a:cxnLst/>
            <a:rect r="r" b="b" t="t" l="l"/>
            <a:pathLst>
              <a:path h="7156964" w="7156964">
                <a:moveTo>
                  <a:pt x="0" y="0"/>
                </a:moveTo>
                <a:lnTo>
                  <a:pt x="7156964" y="0"/>
                </a:lnTo>
                <a:lnTo>
                  <a:pt x="7156964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701277" y="9852242"/>
            <a:ext cx="1550881" cy="434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  <a:spcBef>
                <a:spcPct val="0"/>
              </a:spcBef>
            </a:pPr>
            <a:r>
              <a:rPr lang="en-US" sz="2553">
                <a:solidFill>
                  <a:srgbClr val="FFFFFF"/>
                </a:solidFill>
                <a:latin typeface="Lemon Tuesday"/>
                <a:ea typeface="Lemon Tuesday"/>
                <a:cs typeface="Lemon Tuesday"/>
                <a:sym typeface="Lemon Tuesday"/>
              </a:rPr>
              <a:t>TEAM NAME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07864" y="6708518"/>
            <a:ext cx="7156964" cy="7156964"/>
          </a:xfrm>
          <a:custGeom>
            <a:avLst/>
            <a:gdLst/>
            <a:ahLst/>
            <a:cxnLst/>
            <a:rect r="r" b="b" t="t" l="l"/>
            <a:pathLst>
              <a:path h="7156964" w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2609" y="5653128"/>
            <a:ext cx="2468924" cy="2468924"/>
          </a:xfrm>
          <a:custGeom>
            <a:avLst/>
            <a:gdLst/>
            <a:ahLst/>
            <a:cxnLst/>
            <a:rect r="r" b="b" t="t" l="l"/>
            <a:pathLst>
              <a:path h="2468924" w="2468924">
                <a:moveTo>
                  <a:pt x="0" y="0"/>
                </a:moveTo>
                <a:lnTo>
                  <a:pt x="2468924" y="0"/>
                </a:lnTo>
                <a:lnTo>
                  <a:pt x="2468924" y="2468924"/>
                </a:lnTo>
                <a:lnTo>
                  <a:pt x="0" y="2468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968411" y="1201755"/>
            <a:ext cx="1565933" cy="1565933"/>
          </a:xfrm>
          <a:custGeom>
            <a:avLst/>
            <a:gdLst/>
            <a:ahLst/>
            <a:cxnLst/>
            <a:rect r="r" b="b" t="t" l="l"/>
            <a:pathLst>
              <a:path h="1565933" w="1565933">
                <a:moveTo>
                  <a:pt x="0" y="0"/>
                </a:moveTo>
                <a:lnTo>
                  <a:pt x="1565933" y="0"/>
                </a:lnTo>
                <a:lnTo>
                  <a:pt x="1565933" y="1565934"/>
                </a:lnTo>
                <a:lnTo>
                  <a:pt x="0" y="1565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615085" y="9852242"/>
            <a:ext cx="1550881" cy="434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  <a:spcBef>
                <a:spcPct val="0"/>
              </a:spcBef>
            </a:pPr>
            <a:r>
              <a:rPr lang="en-US" sz="2553">
                <a:solidFill>
                  <a:srgbClr val="FFFFFF"/>
                </a:solidFill>
                <a:latin typeface="Lemon Tuesday"/>
                <a:ea typeface="Lemon Tuesday"/>
                <a:cs typeface="Lemon Tuesday"/>
                <a:sym typeface="Lemon Tuesday"/>
              </a:rPr>
              <a:t>TEAM NAME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564556" y="528758"/>
            <a:ext cx="9824323" cy="999883"/>
          </a:xfrm>
          <a:custGeom>
            <a:avLst/>
            <a:gdLst/>
            <a:ahLst/>
            <a:cxnLst/>
            <a:rect r="r" b="b" t="t" l="l"/>
            <a:pathLst>
              <a:path h="999883" w="9824323">
                <a:moveTo>
                  <a:pt x="0" y="0"/>
                </a:moveTo>
                <a:lnTo>
                  <a:pt x="9824323" y="0"/>
                </a:lnTo>
                <a:lnTo>
                  <a:pt x="9824323" y="999884"/>
                </a:lnTo>
                <a:lnTo>
                  <a:pt x="0" y="9998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1073" y="86990"/>
            <a:ext cx="1757683" cy="1633403"/>
          </a:xfrm>
          <a:custGeom>
            <a:avLst/>
            <a:gdLst/>
            <a:ahLst/>
            <a:cxnLst/>
            <a:rect r="r" b="b" t="t" l="l"/>
            <a:pathLst>
              <a:path h="1633403" w="1757683">
                <a:moveTo>
                  <a:pt x="0" y="0"/>
                </a:moveTo>
                <a:lnTo>
                  <a:pt x="1757683" y="0"/>
                </a:lnTo>
                <a:lnTo>
                  <a:pt x="1757683" y="1633402"/>
                </a:lnTo>
                <a:lnTo>
                  <a:pt x="0" y="16334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939021" y="86990"/>
            <a:ext cx="1348979" cy="1633403"/>
          </a:xfrm>
          <a:custGeom>
            <a:avLst/>
            <a:gdLst/>
            <a:ahLst/>
            <a:cxnLst/>
            <a:rect r="r" b="b" t="t" l="l"/>
            <a:pathLst>
              <a:path h="1633403" w="1348979">
                <a:moveTo>
                  <a:pt x="0" y="0"/>
                </a:moveTo>
                <a:lnTo>
                  <a:pt x="1348979" y="0"/>
                </a:lnTo>
                <a:lnTo>
                  <a:pt x="1348979" y="1633402"/>
                </a:lnTo>
                <a:lnTo>
                  <a:pt x="0" y="16334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355175" y="2005363"/>
            <a:ext cx="10358338" cy="1362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9"/>
              </a:lnSpc>
              <a:spcBef>
                <a:spcPct val="0"/>
              </a:spcBef>
            </a:pPr>
            <a:r>
              <a:rPr lang="en-US" b="true" sz="7799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JUDGING CRITERIA OF ROUND 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8024" y="3772082"/>
            <a:ext cx="11668840" cy="4730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9"/>
              </a:lnSpc>
            </a:pPr>
            <a:r>
              <a:rPr lang="en-US" sz="5378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1. Problem Statement </a:t>
            </a:r>
          </a:p>
          <a:p>
            <a:pPr algn="l">
              <a:lnSpc>
                <a:spcPts val="7529"/>
              </a:lnSpc>
            </a:pPr>
            <a:r>
              <a:rPr lang="en-US" sz="5378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2. Design Think and Ideation </a:t>
            </a:r>
          </a:p>
          <a:p>
            <a:pPr algn="l">
              <a:lnSpc>
                <a:spcPts val="7529"/>
              </a:lnSpc>
            </a:pPr>
            <a:r>
              <a:rPr lang="en-US" sz="5378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3. Prototype and Demo </a:t>
            </a:r>
          </a:p>
          <a:p>
            <a:pPr algn="l">
              <a:lnSpc>
                <a:spcPts val="7529"/>
              </a:lnSpc>
            </a:pPr>
            <a:r>
              <a:rPr lang="en-US" sz="5378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4. Technical Feasibility </a:t>
            </a:r>
          </a:p>
          <a:p>
            <a:pPr algn="l">
              <a:lnSpc>
                <a:spcPts val="7529"/>
              </a:lnSpc>
            </a:pPr>
            <a:r>
              <a:rPr lang="en-US" sz="5378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5. Collaboration and Communication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07864" y="6708518"/>
            <a:ext cx="7156964" cy="7156964"/>
          </a:xfrm>
          <a:custGeom>
            <a:avLst/>
            <a:gdLst/>
            <a:ahLst/>
            <a:cxnLst/>
            <a:rect r="r" b="b" t="t" l="l"/>
            <a:pathLst>
              <a:path h="7156964" w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93085" y="1202110"/>
            <a:ext cx="7882781" cy="7882781"/>
          </a:xfrm>
          <a:custGeom>
            <a:avLst/>
            <a:gdLst/>
            <a:ahLst/>
            <a:cxnLst/>
            <a:rect r="r" b="b" t="t" l="l"/>
            <a:pathLst>
              <a:path h="7882781" w="7882781">
                <a:moveTo>
                  <a:pt x="0" y="0"/>
                </a:moveTo>
                <a:lnTo>
                  <a:pt x="7882780" y="0"/>
                </a:lnTo>
                <a:lnTo>
                  <a:pt x="7882780" y="7882780"/>
                </a:lnTo>
                <a:lnTo>
                  <a:pt x="0" y="7882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64556" y="528758"/>
            <a:ext cx="9824323" cy="999883"/>
          </a:xfrm>
          <a:custGeom>
            <a:avLst/>
            <a:gdLst/>
            <a:ahLst/>
            <a:cxnLst/>
            <a:rect r="r" b="b" t="t" l="l"/>
            <a:pathLst>
              <a:path h="999883" w="9824323">
                <a:moveTo>
                  <a:pt x="0" y="0"/>
                </a:moveTo>
                <a:lnTo>
                  <a:pt x="9824323" y="0"/>
                </a:lnTo>
                <a:lnTo>
                  <a:pt x="9824323" y="999884"/>
                </a:lnTo>
                <a:lnTo>
                  <a:pt x="0" y="9998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939021" y="86990"/>
            <a:ext cx="1348979" cy="1633403"/>
          </a:xfrm>
          <a:custGeom>
            <a:avLst/>
            <a:gdLst/>
            <a:ahLst/>
            <a:cxnLst/>
            <a:rect r="r" b="b" t="t" l="l"/>
            <a:pathLst>
              <a:path h="1633403" w="1348979">
                <a:moveTo>
                  <a:pt x="0" y="0"/>
                </a:moveTo>
                <a:lnTo>
                  <a:pt x="1348979" y="0"/>
                </a:lnTo>
                <a:lnTo>
                  <a:pt x="1348979" y="1633402"/>
                </a:lnTo>
                <a:lnTo>
                  <a:pt x="0" y="16334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1073" y="86990"/>
            <a:ext cx="1757683" cy="1633403"/>
          </a:xfrm>
          <a:custGeom>
            <a:avLst/>
            <a:gdLst/>
            <a:ahLst/>
            <a:cxnLst/>
            <a:rect r="r" b="b" t="t" l="l"/>
            <a:pathLst>
              <a:path h="1633403" w="1757683">
                <a:moveTo>
                  <a:pt x="0" y="0"/>
                </a:moveTo>
                <a:lnTo>
                  <a:pt x="1757683" y="0"/>
                </a:lnTo>
                <a:lnTo>
                  <a:pt x="1757683" y="1633402"/>
                </a:lnTo>
                <a:lnTo>
                  <a:pt x="0" y="16334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477443" y="2036505"/>
            <a:ext cx="7941399" cy="1598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07"/>
              </a:lnSpc>
              <a:spcBef>
                <a:spcPct val="0"/>
              </a:spcBef>
            </a:pPr>
            <a:r>
              <a:rPr lang="en-US" b="true" sz="9148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JUDING ROUND 2 INDEX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4238" y="3549778"/>
            <a:ext cx="8933617" cy="6221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5"/>
              </a:lnSpc>
            </a:pPr>
            <a:r>
              <a:rPr lang="en-US" sz="443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1. Team introduction with project title</a:t>
            </a:r>
          </a:p>
          <a:p>
            <a:pPr algn="l">
              <a:lnSpc>
                <a:spcPts val="6205"/>
              </a:lnSpc>
            </a:pPr>
            <a:r>
              <a:rPr lang="en-US" sz="443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2. Problem statement </a:t>
            </a:r>
          </a:p>
          <a:p>
            <a:pPr algn="l">
              <a:lnSpc>
                <a:spcPts val="6205"/>
              </a:lnSpc>
            </a:pPr>
            <a:r>
              <a:rPr lang="en-US" sz="443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3. Solution overview</a:t>
            </a:r>
          </a:p>
          <a:p>
            <a:pPr algn="l">
              <a:lnSpc>
                <a:spcPts val="6205"/>
              </a:lnSpc>
            </a:pPr>
            <a:r>
              <a:rPr lang="en-US" sz="443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4. Work flow diagram</a:t>
            </a:r>
          </a:p>
          <a:p>
            <a:pPr algn="l">
              <a:lnSpc>
                <a:spcPts val="6205"/>
              </a:lnSpc>
            </a:pPr>
            <a:r>
              <a:rPr lang="en-US" sz="443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5. Implementation</a:t>
            </a:r>
          </a:p>
          <a:p>
            <a:pPr algn="l">
              <a:lnSpc>
                <a:spcPts val="6205"/>
              </a:lnSpc>
            </a:pPr>
            <a:r>
              <a:rPr lang="en-US" sz="443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6. Tech stack</a:t>
            </a:r>
          </a:p>
          <a:p>
            <a:pPr algn="l">
              <a:lnSpc>
                <a:spcPts val="6205"/>
              </a:lnSpc>
            </a:pPr>
            <a:r>
              <a:rPr lang="en-US" sz="443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7. Brief on testing approach</a:t>
            </a:r>
          </a:p>
          <a:p>
            <a:pPr algn="l">
              <a:lnSpc>
                <a:spcPts val="6205"/>
              </a:lnSpc>
            </a:pPr>
            <a:r>
              <a:rPr lang="en-US" sz="443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8. 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02220" y="9615700"/>
            <a:ext cx="6624238" cy="30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3"/>
              </a:lnSpc>
            </a:pPr>
            <a:r>
              <a:rPr lang="en-US" sz="181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*p.s - You will use this template throughout the hack-a-thon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741760" y="-2890404"/>
            <a:ext cx="7156964" cy="7156964"/>
          </a:xfrm>
          <a:custGeom>
            <a:avLst/>
            <a:gdLst/>
            <a:ahLst/>
            <a:cxnLst/>
            <a:rect r="r" b="b" t="t" l="l"/>
            <a:pathLst>
              <a:path h="7156964" w="7156964">
                <a:moveTo>
                  <a:pt x="0" y="0"/>
                </a:moveTo>
                <a:lnTo>
                  <a:pt x="7156963" y="0"/>
                </a:lnTo>
                <a:lnTo>
                  <a:pt x="7156963" y="7156963"/>
                </a:lnTo>
                <a:lnTo>
                  <a:pt x="0" y="71569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451179" y="9852242"/>
            <a:ext cx="1550881" cy="434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  <a:spcBef>
                <a:spcPct val="0"/>
              </a:spcBef>
            </a:pPr>
            <a:r>
              <a:rPr lang="en-US" sz="2553">
                <a:solidFill>
                  <a:srgbClr val="FFFFFF"/>
                </a:solidFill>
                <a:latin typeface="Lemon Tuesday"/>
                <a:ea typeface="Lemon Tuesday"/>
                <a:cs typeface="Lemon Tuesday"/>
                <a:sym typeface="Lemon Tuesday"/>
              </a:rPr>
              <a:t>TEAM NAME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07864" y="6708518"/>
            <a:ext cx="7156964" cy="7156964"/>
          </a:xfrm>
          <a:custGeom>
            <a:avLst/>
            <a:gdLst/>
            <a:ahLst/>
            <a:cxnLst/>
            <a:rect r="r" b="b" t="t" l="l"/>
            <a:pathLst>
              <a:path h="7156964" w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2609" y="5653128"/>
            <a:ext cx="2468924" cy="2468924"/>
          </a:xfrm>
          <a:custGeom>
            <a:avLst/>
            <a:gdLst/>
            <a:ahLst/>
            <a:cxnLst/>
            <a:rect r="r" b="b" t="t" l="l"/>
            <a:pathLst>
              <a:path h="2468924" w="2468924">
                <a:moveTo>
                  <a:pt x="0" y="0"/>
                </a:moveTo>
                <a:lnTo>
                  <a:pt x="2468924" y="0"/>
                </a:lnTo>
                <a:lnTo>
                  <a:pt x="2468924" y="2468924"/>
                </a:lnTo>
                <a:lnTo>
                  <a:pt x="0" y="2468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968411" y="1201755"/>
            <a:ext cx="1565933" cy="1565933"/>
          </a:xfrm>
          <a:custGeom>
            <a:avLst/>
            <a:gdLst/>
            <a:ahLst/>
            <a:cxnLst/>
            <a:rect r="r" b="b" t="t" l="l"/>
            <a:pathLst>
              <a:path h="1565933" w="1565933">
                <a:moveTo>
                  <a:pt x="0" y="0"/>
                </a:moveTo>
                <a:lnTo>
                  <a:pt x="1565933" y="0"/>
                </a:lnTo>
                <a:lnTo>
                  <a:pt x="1565933" y="1565934"/>
                </a:lnTo>
                <a:lnTo>
                  <a:pt x="0" y="1565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615085" y="9852242"/>
            <a:ext cx="1550881" cy="434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  <a:spcBef>
                <a:spcPct val="0"/>
              </a:spcBef>
            </a:pPr>
            <a:r>
              <a:rPr lang="en-US" sz="2553">
                <a:solidFill>
                  <a:srgbClr val="FFFFFF"/>
                </a:solidFill>
                <a:latin typeface="Lemon Tuesday"/>
                <a:ea typeface="Lemon Tuesday"/>
                <a:cs typeface="Lemon Tuesday"/>
                <a:sym typeface="Lemon Tuesday"/>
              </a:rPr>
              <a:t>TEAM NAME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564556" y="528758"/>
            <a:ext cx="9824323" cy="999883"/>
          </a:xfrm>
          <a:custGeom>
            <a:avLst/>
            <a:gdLst/>
            <a:ahLst/>
            <a:cxnLst/>
            <a:rect r="r" b="b" t="t" l="l"/>
            <a:pathLst>
              <a:path h="999883" w="9824323">
                <a:moveTo>
                  <a:pt x="0" y="0"/>
                </a:moveTo>
                <a:lnTo>
                  <a:pt x="9824323" y="0"/>
                </a:lnTo>
                <a:lnTo>
                  <a:pt x="9824323" y="999884"/>
                </a:lnTo>
                <a:lnTo>
                  <a:pt x="0" y="9998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1073" y="86990"/>
            <a:ext cx="1757683" cy="1633403"/>
          </a:xfrm>
          <a:custGeom>
            <a:avLst/>
            <a:gdLst/>
            <a:ahLst/>
            <a:cxnLst/>
            <a:rect r="r" b="b" t="t" l="l"/>
            <a:pathLst>
              <a:path h="1633403" w="1757683">
                <a:moveTo>
                  <a:pt x="0" y="0"/>
                </a:moveTo>
                <a:lnTo>
                  <a:pt x="1757683" y="0"/>
                </a:lnTo>
                <a:lnTo>
                  <a:pt x="1757683" y="1633402"/>
                </a:lnTo>
                <a:lnTo>
                  <a:pt x="0" y="16334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939021" y="86990"/>
            <a:ext cx="1348979" cy="1633403"/>
          </a:xfrm>
          <a:custGeom>
            <a:avLst/>
            <a:gdLst/>
            <a:ahLst/>
            <a:cxnLst/>
            <a:rect r="r" b="b" t="t" l="l"/>
            <a:pathLst>
              <a:path h="1633403" w="1348979">
                <a:moveTo>
                  <a:pt x="0" y="0"/>
                </a:moveTo>
                <a:lnTo>
                  <a:pt x="1348979" y="0"/>
                </a:lnTo>
                <a:lnTo>
                  <a:pt x="1348979" y="1633402"/>
                </a:lnTo>
                <a:lnTo>
                  <a:pt x="0" y="16334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355175" y="2005363"/>
            <a:ext cx="10358338" cy="1362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9"/>
              </a:lnSpc>
              <a:spcBef>
                <a:spcPct val="0"/>
              </a:spcBef>
            </a:pPr>
            <a:r>
              <a:rPr lang="en-US" b="true" sz="7799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JUDGING CRITERIA OF ROUND 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8024" y="3772082"/>
            <a:ext cx="14237494" cy="4730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9"/>
              </a:lnSpc>
            </a:pPr>
            <a:r>
              <a:rPr lang="en-US" sz="5378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1. Technical Implementation and Integration </a:t>
            </a:r>
          </a:p>
          <a:p>
            <a:pPr algn="l">
              <a:lnSpc>
                <a:spcPts val="7529"/>
              </a:lnSpc>
            </a:pPr>
            <a:r>
              <a:rPr lang="en-US" sz="5378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2. Impact and Scalability </a:t>
            </a:r>
          </a:p>
          <a:p>
            <a:pPr algn="l">
              <a:lnSpc>
                <a:spcPts val="7529"/>
              </a:lnSpc>
            </a:pPr>
            <a:r>
              <a:rPr lang="en-US" sz="5378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3. User Experience and Feedback </a:t>
            </a:r>
          </a:p>
          <a:p>
            <a:pPr algn="l">
              <a:lnSpc>
                <a:spcPts val="7529"/>
              </a:lnSpc>
            </a:pPr>
            <a:r>
              <a:rPr lang="en-US" sz="5378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4. Business Model and Revenue Stream </a:t>
            </a:r>
          </a:p>
          <a:p>
            <a:pPr algn="l">
              <a:lnSpc>
                <a:spcPts val="7529"/>
              </a:lnSpc>
            </a:pPr>
            <a:r>
              <a:rPr lang="en-US" sz="5378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5. Team's Learning and Adaptability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07864" y="6708518"/>
            <a:ext cx="7156964" cy="7156964"/>
          </a:xfrm>
          <a:custGeom>
            <a:avLst/>
            <a:gdLst/>
            <a:ahLst/>
            <a:cxnLst/>
            <a:rect r="r" b="b" t="t" l="l"/>
            <a:pathLst>
              <a:path h="7156964" w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02610" y="1202110"/>
            <a:ext cx="7882781" cy="7882781"/>
          </a:xfrm>
          <a:custGeom>
            <a:avLst/>
            <a:gdLst/>
            <a:ahLst/>
            <a:cxnLst/>
            <a:rect r="r" b="b" t="t" l="l"/>
            <a:pathLst>
              <a:path h="7882781" w="7882781">
                <a:moveTo>
                  <a:pt x="0" y="0"/>
                </a:moveTo>
                <a:lnTo>
                  <a:pt x="7882780" y="0"/>
                </a:lnTo>
                <a:lnTo>
                  <a:pt x="7882780" y="7882780"/>
                </a:lnTo>
                <a:lnTo>
                  <a:pt x="0" y="7882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61408" y="2694886"/>
            <a:ext cx="14165185" cy="4411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79"/>
              </a:lnSpc>
              <a:spcBef>
                <a:spcPct val="0"/>
              </a:spcBef>
            </a:pPr>
            <a:r>
              <a:rPr lang="en-US" b="true" sz="2527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THANK YOU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782531" y="-3049723"/>
            <a:ext cx="7156964" cy="7156964"/>
          </a:xfrm>
          <a:custGeom>
            <a:avLst/>
            <a:gdLst/>
            <a:ahLst/>
            <a:cxnLst/>
            <a:rect r="r" b="b" t="t" l="l"/>
            <a:pathLst>
              <a:path h="7156964" w="7156964">
                <a:moveTo>
                  <a:pt x="0" y="0"/>
                </a:moveTo>
                <a:lnTo>
                  <a:pt x="7156964" y="0"/>
                </a:lnTo>
                <a:lnTo>
                  <a:pt x="7156964" y="7156963"/>
                </a:lnTo>
                <a:lnTo>
                  <a:pt x="0" y="71569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49099" y="878996"/>
            <a:ext cx="1565933" cy="1565933"/>
          </a:xfrm>
          <a:custGeom>
            <a:avLst/>
            <a:gdLst/>
            <a:ahLst/>
            <a:cxnLst/>
            <a:rect r="r" b="b" t="t" l="l"/>
            <a:pathLst>
              <a:path h="1565933" w="1565933">
                <a:moveTo>
                  <a:pt x="0" y="0"/>
                </a:moveTo>
                <a:lnTo>
                  <a:pt x="1565934" y="0"/>
                </a:lnTo>
                <a:lnTo>
                  <a:pt x="1565934" y="1565933"/>
                </a:lnTo>
                <a:lnTo>
                  <a:pt x="0" y="1565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095020" y="7253634"/>
            <a:ext cx="2468924" cy="2468924"/>
          </a:xfrm>
          <a:custGeom>
            <a:avLst/>
            <a:gdLst/>
            <a:ahLst/>
            <a:cxnLst/>
            <a:rect r="r" b="b" t="t" l="l"/>
            <a:pathLst>
              <a:path h="2468924" w="2468924">
                <a:moveTo>
                  <a:pt x="0" y="0"/>
                </a:moveTo>
                <a:lnTo>
                  <a:pt x="2468924" y="0"/>
                </a:lnTo>
                <a:lnTo>
                  <a:pt x="2468924" y="2468924"/>
                </a:lnTo>
                <a:lnTo>
                  <a:pt x="0" y="2468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368560" y="9852242"/>
            <a:ext cx="1550881" cy="434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  <a:spcBef>
                <a:spcPct val="0"/>
              </a:spcBef>
            </a:pPr>
            <a:r>
              <a:rPr lang="en-US" sz="2553">
                <a:solidFill>
                  <a:srgbClr val="FFFFFF"/>
                </a:solidFill>
                <a:latin typeface="Lemon Tuesday"/>
                <a:ea typeface="Lemon Tuesday"/>
                <a:cs typeface="Lemon Tuesday"/>
                <a:sym typeface="Lemon Tuesday"/>
              </a:rPr>
              <a:t>TEAM NAME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564556" y="528758"/>
            <a:ext cx="9824323" cy="999883"/>
          </a:xfrm>
          <a:custGeom>
            <a:avLst/>
            <a:gdLst/>
            <a:ahLst/>
            <a:cxnLst/>
            <a:rect r="r" b="b" t="t" l="l"/>
            <a:pathLst>
              <a:path h="999883" w="9824323">
                <a:moveTo>
                  <a:pt x="0" y="0"/>
                </a:moveTo>
                <a:lnTo>
                  <a:pt x="9824323" y="0"/>
                </a:lnTo>
                <a:lnTo>
                  <a:pt x="9824323" y="999884"/>
                </a:lnTo>
                <a:lnTo>
                  <a:pt x="0" y="9998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1073" y="86990"/>
            <a:ext cx="1757683" cy="1633403"/>
          </a:xfrm>
          <a:custGeom>
            <a:avLst/>
            <a:gdLst/>
            <a:ahLst/>
            <a:cxnLst/>
            <a:rect r="r" b="b" t="t" l="l"/>
            <a:pathLst>
              <a:path h="1633403" w="1757683">
                <a:moveTo>
                  <a:pt x="0" y="0"/>
                </a:moveTo>
                <a:lnTo>
                  <a:pt x="1757683" y="0"/>
                </a:lnTo>
                <a:lnTo>
                  <a:pt x="1757683" y="1633402"/>
                </a:lnTo>
                <a:lnTo>
                  <a:pt x="0" y="16334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939021" y="86990"/>
            <a:ext cx="1348979" cy="1633403"/>
          </a:xfrm>
          <a:custGeom>
            <a:avLst/>
            <a:gdLst/>
            <a:ahLst/>
            <a:cxnLst/>
            <a:rect r="r" b="b" t="t" l="l"/>
            <a:pathLst>
              <a:path h="1633403" w="1348979">
                <a:moveTo>
                  <a:pt x="0" y="0"/>
                </a:moveTo>
                <a:lnTo>
                  <a:pt x="1348979" y="0"/>
                </a:lnTo>
                <a:lnTo>
                  <a:pt x="1348979" y="1633402"/>
                </a:lnTo>
                <a:lnTo>
                  <a:pt x="0" y="16334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DAGiAoMAkfg</dc:identifier>
  <dcterms:modified xsi:type="dcterms:W3CDTF">2011-08-01T06:04:30Z</dcterms:modified>
  <cp:revision>1</cp:revision>
  <dc:title>Red Black Modern Technology Presentation</dc:title>
</cp:coreProperties>
</file>